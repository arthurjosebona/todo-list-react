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DM Serif Display" charset="1" panose="00000000000000000000"/>
      <p:regular r:id="rId32"/>
    </p:embeddedFont>
    <p:embeddedFont>
      <p:font typeface="Open Sauce" charset="1" panose="00000500000000000000"/>
      <p:regular r:id="rId33"/>
    </p:embeddedFont>
    <p:embeddedFont>
      <p:font typeface="Open Sauce Bold" charset="1" panose="00000800000000000000"/>
      <p:regular r:id="rId34"/>
    </p:embeddedFont>
    <p:embeddedFont>
      <p:font typeface="Open Sans" charset="1" panose="020B060603050402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34527" y="2794000"/>
            <a:ext cx="9818947" cy="443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React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Fundamentos, Estado e o Ferramental de Projetos Modernos</a:t>
            </a:r>
          </a:p>
          <a:p>
            <a:pPr algn="ctr">
              <a:lnSpc>
                <a:spcPts val="3640"/>
              </a:lnSpc>
            </a:pP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Grupo:Arthur José Bona, Djulia Gabriela Pacher, Leonardo da silva</a:t>
            </a:r>
          </a:p>
          <a:p>
            <a:pPr algn="ctr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78631" y="4543742"/>
            <a:ext cx="1333073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Introdução ao Framework/Biblioteca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32606" y="1296647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História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36253" y="3089435"/>
            <a:ext cx="11615494" cy="602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React foi criado em 2011 por Jordan Walke, engenheiro do Meta 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(na época chamado Facebook).</a:t>
            </a:r>
          </a:p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Ele surgiu porque o Facebook precisava melhorar o desempenho e a organização das interfaces do sistema, que estavam ficando muito complexas.</a:t>
            </a:r>
          </a:p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Ele 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foi usado primei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ro no feed de notícias do Facebook e depois no Instagram.</a:t>
            </a:r>
          </a:p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 2013, a biblioteca foi lançada como projeto open source para que outros desenvolvedores também pudessem utilizá-la.</a:t>
            </a:r>
          </a:p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 o tempo, o React se tornou uma das tecnologias mais populares do desenvolvimento frontend.</a:t>
            </a:r>
          </a:p>
          <a:p>
            <a:pPr algn="just">
              <a:lnSpc>
                <a:spcPts val="39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32606" y="1296647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Evolução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36253" y="3089435"/>
            <a:ext cx="11615494" cy="350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Na versão 16 (2017) chegou o Re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act Fiber, reescrevendo o motor de renderização para ganhos de performance. O React 16.8 (2019) foi um marco: a introdução dos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H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ooks permitiu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usar estado e ciclo de vida sem classes. O React 18 (2022) trouxe o Concurrent Mode, renderização paralela e o novo hook useTransition. Hoje, com o React 19 e o ecossistema de Server Components, o framework caminha para um modelo híbrido entre cliente e servidor.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67032" y="4517717"/>
            <a:ext cx="11729332" cy="350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Atu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lme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te,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Re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ct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é m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rin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palme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 Meta,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ambém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eceb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nt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ibuiçõ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d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omunidade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sou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ce do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iro.</a:t>
            </a:r>
          </a:p>
          <a:p>
            <a:pPr algn="just" marL="0" indent="0" lvl="0">
              <a:lnSpc>
                <a:spcPts val="3999"/>
              </a:lnSpc>
            </a:pP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Ou seja: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Meta lidera o desenvolvimento principal;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Desenvolvedores independentes e empresas também ajudam com melhorias e correções.</a:t>
            </a:r>
          </a:p>
          <a:p>
            <a:pPr algn="just" marL="0" indent="0" lvl="0">
              <a:lnSpc>
                <a:spcPts val="39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5660553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Quem mantem o React?</a:t>
            </a:r>
          </a:p>
        </p:txBody>
      </p:sp>
      <p:sp>
        <p:nvSpPr>
          <p:cNvPr name="AutoShape 5" id="5"/>
          <p:cNvSpPr/>
          <p:nvPr/>
        </p:nvSpPr>
        <p:spPr>
          <a:xfrm>
            <a:off x="1704281" y="3272678"/>
            <a:ext cx="1962751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133557" y="2184042"/>
            <a:ext cx="1200400" cy="1041011"/>
          </a:xfrm>
          <a:custGeom>
            <a:avLst/>
            <a:gdLst/>
            <a:ahLst/>
            <a:cxnLst/>
            <a:rect r="r" b="b" t="t" l="l"/>
            <a:pathLst>
              <a:path h="1041011" w="1200400">
                <a:moveTo>
                  <a:pt x="0" y="0"/>
                </a:moveTo>
                <a:lnTo>
                  <a:pt x="1200400" y="0"/>
                </a:lnTo>
                <a:lnTo>
                  <a:pt x="1200400" y="1041011"/>
                </a:lnTo>
                <a:lnTo>
                  <a:pt x="0" y="10410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6213" y="2370500"/>
            <a:ext cx="3822789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Proposito da criação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452962" y="2484800"/>
            <a:ext cx="10126786" cy="5317400"/>
            <a:chOff x="0" y="0"/>
            <a:chExt cx="13502381" cy="70898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7141916" y="5695078"/>
              <a:ext cx="3760734" cy="599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999"/>
                </a:lnSpc>
              </a:pPr>
              <a:r>
                <a:rPr lang="en-US" sz="24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Cartão de Produto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95250"/>
              <a:ext cx="13502381" cy="5310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 React</a:t>
              </a:r>
              <a:r>
                <a:rPr lang="en-US" b="true" sz="2499" strike="noStrike" u="non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</a:t>
              </a:r>
              <a:r>
                <a:rPr lang="en-US" b="true" sz="2499" strike="noStrike" u="non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</a:t>
              </a:r>
              <a:r>
                <a:rPr lang="en-US" b="true" sz="2499" strike="noStrike" u="non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oi criado com o objetivo de:</a:t>
              </a:r>
            </a:p>
            <a:p>
              <a:pPr algn="just" marL="539749" indent="-269875" lvl="1">
                <a:lnSpc>
                  <a:spcPts val="3999"/>
                </a:lnSpc>
                <a:buFont typeface="Arial"/>
                <a:buChar char="•"/>
              </a:pP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Faci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litar a criação d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nterfaces modernas e interativas;</a:t>
              </a:r>
            </a:p>
            <a:p>
              <a:pPr algn="just" marL="539749" indent="-269875" lvl="1">
                <a:lnSpc>
                  <a:spcPts val="3999"/>
                </a:lnSpc>
                <a:buFont typeface="Arial"/>
                <a:buChar char="•"/>
              </a:pP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Me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lhorar a performance das aplicaçõ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w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b;</a:t>
              </a:r>
            </a:p>
            <a:p>
              <a:pPr algn="just" marL="539749" indent="-269875" lvl="1">
                <a:lnSpc>
                  <a:spcPts val="3999"/>
                </a:lnSpc>
                <a:buFont typeface="Arial"/>
                <a:buChar char="•"/>
              </a:pP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Orga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izar o có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igo em componentes reu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ilizáveis;</a:t>
              </a:r>
            </a:p>
            <a:p>
              <a:pPr algn="just" marL="539749" indent="-269875" lvl="1">
                <a:lnSpc>
                  <a:spcPts val="3999"/>
                </a:lnSpc>
                <a:buFont typeface="Arial"/>
                <a:buChar char="•"/>
              </a:pP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rnar a manut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nção dos siste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ma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 mais simples.</a:t>
              </a:r>
            </a:p>
            <a:p>
              <a:pPr algn="just" marL="0" indent="0" lvl="0">
                <a:lnSpc>
                  <a:spcPts val="3999"/>
                </a:lnSpc>
              </a:pP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Um dos g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randes diferenciais do React é o uso de compon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ntes, permi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indo dividir a interface em pequenas 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part</a:t>
              </a:r>
              <a:r>
                <a:rPr lang="en-US" sz="24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es reutilizáveis.</a:t>
              </a:r>
            </a:p>
            <a:p>
              <a:pPr algn="just" marL="0" indent="0" lvl="0">
                <a:lnSpc>
                  <a:spcPts val="3999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7661" y="4803713"/>
              <a:ext cx="1997675" cy="599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Exemplo</a:t>
              </a:r>
              <a:r>
                <a:rPr lang="en-US" sz="24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: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7661" y="5695078"/>
              <a:ext cx="1280499" cy="599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999"/>
                </a:lnSpc>
              </a:pPr>
              <a:r>
                <a:rPr lang="en-US" sz="24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Botão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286060" y="5695078"/>
              <a:ext cx="1280499" cy="599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999"/>
                </a:lnSpc>
              </a:pPr>
              <a:r>
                <a:rPr lang="en-US" sz="24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Menu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545975" y="5695078"/>
              <a:ext cx="2266617" cy="599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999"/>
                </a:lnSpc>
              </a:pPr>
              <a:r>
                <a:rPr lang="en-US" sz="24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Formulário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490849"/>
              <a:ext cx="10902650" cy="599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999"/>
                </a:lnSpc>
              </a:pPr>
              <a:r>
                <a:rPr lang="en-US" sz="24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Isso ajuda no desenvolvimento de sistemas grandes.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01566" y="4543742"/>
            <a:ext cx="8884867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Conceitos Fundamentais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32606" y="1296647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JSX / TSX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36253" y="3089435"/>
            <a:ext cx="11615494" cy="400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JSX é uma extensão de sintaxe do Jav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aScript que permite escrever HTML dentro do código JS, ela é transformada em chamadas React.createElement() pelo compilador. O arquivo .jsx indica que o código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ontém es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sa sintaxe especial. </a:t>
            </a:r>
          </a:p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Já o .tsx é a versão TypeScript do JSX: mantém toda a expressividade do JSX e adiciona tipagem estática, autocompletar e detecção de erros em tempo de desenvolvimento. A escolha entre os dois depende do projeto — JSX para JavaScript puro, TSX para projetos com TypeScript.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6399" y="5118139"/>
            <a:ext cx="6060925" cy="4016653"/>
            <a:chOff x="0" y="0"/>
            <a:chExt cx="8081234" cy="535553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8081234" cy="5355538"/>
              <a:chOff x="0" y="0"/>
              <a:chExt cx="1472310" cy="97571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472310" cy="975719"/>
              </a:xfrm>
              <a:custGeom>
                <a:avLst/>
                <a:gdLst/>
                <a:ahLst/>
                <a:cxnLst/>
                <a:rect r="r" b="b" t="t" l="l"/>
                <a:pathLst>
                  <a:path h="975719" w="1472310">
                    <a:moveTo>
                      <a:pt x="70111" y="0"/>
                    </a:moveTo>
                    <a:lnTo>
                      <a:pt x="1402198" y="0"/>
                    </a:lnTo>
                    <a:cubicBezTo>
                      <a:pt x="1440920" y="0"/>
                      <a:pt x="1472310" y="31390"/>
                      <a:pt x="1472310" y="70111"/>
                    </a:cubicBezTo>
                    <a:lnTo>
                      <a:pt x="1472310" y="905607"/>
                    </a:lnTo>
                    <a:cubicBezTo>
                      <a:pt x="1472310" y="924202"/>
                      <a:pt x="1464923" y="942035"/>
                      <a:pt x="1451775" y="955183"/>
                    </a:cubicBezTo>
                    <a:cubicBezTo>
                      <a:pt x="1438626" y="968332"/>
                      <a:pt x="1420793" y="975719"/>
                      <a:pt x="1402198" y="975719"/>
                    </a:cubicBezTo>
                    <a:lnTo>
                      <a:pt x="70111" y="975719"/>
                    </a:lnTo>
                    <a:cubicBezTo>
                      <a:pt x="51517" y="975719"/>
                      <a:pt x="33684" y="968332"/>
                      <a:pt x="20535" y="955183"/>
                    </a:cubicBezTo>
                    <a:cubicBezTo>
                      <a:pt x="7387" y="942035"/>
                      <a:pt x="0" y="924202"/>
                      <a:pt x="0" y="905607"/>
                    </a:cubicBezTo>
                    <a:lnTo>
                      <a:pt x="0" y="70111"/>
                    </a:lnTo>
                    <a:cubicBezTo>
                      <a:pt x="0" y="31390"/>
                      <a:pt x="31390" y="0"/>
                      <a:pt x="70111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rnd">
                <a:solidFill>
                  <a:srgbClr val="000000">
                    <a:alpha val="49804"/>
                  </a:srgbClr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1472310" cy="10233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42987" y="785045"/>
              <a:ext cx="6795259" cy="36711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04519" indent="-302260" lvl="1">
                <a:lnSpc>
                  <a:spcPts val="447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botão;</a:t>
              </a:r>
            </a:p>
            <a:p>
              <a:pPr algn="just" marL="604519" indent="-302260" lvl="1">
                <a:lnSpc>
                  <a:spcPts val="447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menu;</a:t>
              </a:r>
            </a:p>
            <a:p>
              <a:pPr algn="just" marL="604519" indent="-302260" lvl="1">
                <a:lnSpc>
                  <a:spcPts val="44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</a:t>
              </a:r>
              <a:r>
                <a:rPr lang="en-US" sz="27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</a:t>
              </a:r>
              <a:r>
                <a:rPr lang="en-US" sz="27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</a:t>
              </a:r>
              <a:r>
                <a:rPr lang="en-US" sz="27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</a:t>
              </a:r>
              <a:r>
                <a:rPr lang="en-US" sz="27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çalho;</a:t>
              </a:r>
            </a:p>
            <a:p>
              <a:pPr algn="just" marL="604519" indent="-302260" lvl="1">
                <a:lnSpc>
                  <a:spcPts val="44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</a:t>
              </a:r>
              <a:r>
                <a:rPr lang="en-US" sz="27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</a:t>
              </a:r>
              <a:r>
                <a:rPr lang="en-US" sz="27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mulário;</a:t>
              </a:r>
            </a:p>
            <a:p>
              <a:pPr algn="just" marL="604519" indent="-302260" lvl="1">
                <a:lnSpc>
                  <a:spcPts val="44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</a:t>
              </a:r>
              <a:r>
                <a:rPr lang="en-US" sz="27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</a:t>
              </a:r>
              <a:r>
                <a:rPr lang="en-US" sz="27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</a:t>
              </a:r>
              <a:r>
                <a:rPr lang="en-US" sz="27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</a:t>
              </a:r>
              <a:r>
                <a:rPr lang="en-US" sz="27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ão d</a:t>
              </a:r>
              <a:r>
                <a:rPr lang="en-US" sz="27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 </a:t>
              </a:r>
              <a:r>
                <a:rPr lang="en-US" sz="2799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produto.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254354" y="1028700"/>
            <a:ext cx="10196343" cy="8106093"/>
          </a:xfrm>
          <a:custGeom>
            <a:avLst/>
            <a:gdLst/>
            <a:ahLst/>
            <a:cxnLst/>
            <a:rect r="r" b="b" t="t" l="l"/>
            <a:pathLst>
              <a:path h="8106093" w="10196343">
                <a:moveTo>
                  <a:pt x="0" y="0"/>
                </a:moveTo>
                <a:lnTo>
                  <a:pt x="10196343" y="0"/>
                </a:lnTo>
                <a:lnTo>
                  <a:pt x="10196343" y="8106093"/>
                </a:lnTo>
                <a:lnTo>
                  <a:pt x="0" y="81060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66399" y="1233825"/>
            <a:ext cx="495283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Componentes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6399" y="2381111"/>
            <a:ext cx="6060925" cy="148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Os componentes são a base do React.</a:t>
            </a:r>
          </a:p>
          <a:p>
            <a:pPr algn="just">
              <a:lnSpc>
                <a:spcPts val="3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Eles funcionam como pequenas partes reutilizáveis da interface.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6399" y="4128492"/>
            <a:ext cx="4441775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Exemplos de Componentes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86274" y="6158903"/>
            <a:ext cx="4933605" cy="2844750"/>
            <a:chOff x="0" y="0"/>
            <a:chExt cx="6578140" cy="379300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578140" cy="3793001"/>
              <a:chOff x="0" y="0"/>
              <a:chExt cx="1727389" cy="99602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27389" cy="996025"/>
              </a:xfrm>
              <a:custGeom>
                <a:avLst/>
                <a:gdLst/>
                <a:ahLst/>
                <a:cxnLst/>
                <a:rect r="r" b="b" t="t" l="l"/>
                <a:pathLst>
                  <a:path h="996025" w="1727389">
                    <a:moveTo>
                      <a:pt x="59758" y="0"/>
                    </a:moveTo>
                    <a:lnTo>
                      <a:pt x="1667631" y="0"/>
                    </a:lnTo>
                    <a:cubicBezTo>
                      <a:pt x="1683480" y="0"/>
                      <a:pt x="1698680" y="6296"/>
                      <a:pt x="1709887" y="17503"/>
                    </a:cubicBezTo>
                    <a:cubicBezTo>
                      <a:pt x="1721093" y="28710"/>
                      <a:pt x="1727389" y="43909"/>
                      <a:pt x="1727389" y="59758"/>
                    </a:cubicBezTo>
                    <a:lnTo>
                      <a:pt x="1727389" y="936266"/>
                    </a:lnTo>
                    <a:cubicBezTo>
                      <a:pt x="1727389" y="969270"/>
                      <a:pt x="1700635" y="996025"/>
                      <a:pt x="1667631" y="996025"/>
                    </a:cubicBezTo>
                    <a:lnTo>
                      <a:pt x="59758" y="996025"/>
                    </a:lnTo>
                    <a:cubicBezTo>
                      <a:pt x="43909" y="996025"/>
                      <a:pt x="28710" y="989729"/>
                      <a:pt x="17503" y="978522"/>
                    </a:cubicBezTo>
                    <a:cubicBezTo>
                      <a:pt x="6296" y="967315"/>
                      <a:pt x="0" y="952115"/>
                      <a:pt x="0" y="936266"/>
                    </a:cubicBezTo>
                    <a:lnTo>
                      <a:pt x="0" y="59758"/>
                    </a:lnTo>
                    <a:cubicBezTo>
                      <a:pt x="0" y="26755"/>
                      <a:pt x="26755" y="0"/>
                      <a:pt x="59758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rnd">
                <a:solidFill>
                  <a:srgbClr val="000000">
                    <a:alpha val="49804"/>
                  </a:srgbClr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1727389" cy="1043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23393" y="278309"/>
              <a:ext cx="5531354" cy="31506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31801" indent="-215900" lvl="1">
                <a:lnSpc>
                  <a:spcPts val="3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servem para comunicação entre co</a:t>
              </a: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mponent</a:t>
              </a: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es;</a:t>
              </a:r>
            </a:p>
            <a:p>
              <a:pPr algn="just" marL="431801" indent="-215900" lvl="1">
                <a:lnSpc>
                  <a:spcPts val="3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sã</a:t>
              </a: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</a:t>
              </a: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so</a:t>
              </a: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</a:t>
              </a: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ente </a:t>
              </a: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</a:t>
              </a: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eitu</a:t>
              </a: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</a:t>
              </a: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</a:t>
              </a: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;</a:t>
              </a:r>
            </a:p>
            <a:p>
              <a:pPr algn="just" marL="431801" indent="-215900" lvl="1">
                <a:lnSpc>
                  <a:spcPts val="3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ajudam a deixar comp</a:t>
              </a: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onentes </a:t>
              </a: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</a:t>
              </a: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</a:t>
              </a: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ut</a:t>
              </a: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ilizáveis</a:t>
              </a:r>
              <a:r>
                <a:rPr lang="en-US" sz="20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</a:t>
              </a:r>
            </a:p>
            <a:p>
              <a:pPr algn="just" marL="0" indent="0" lvl="0">
                <a:lnSpc>
                  <a:spcPts val="32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950765" y="1348125"/>
            <a:ext cx="9337235" cy="7364744"/>
          </a:xfrm>
          <a:custGeom>
            <a:avLst/>
            <a:gdLst/>
            <a:ahLst/>
            <a:cxnLst/>
            <a:rect r="r" b="b" t="t" l="l"/>
            <a:pathLst>
              <a:path h="7364744" w="9337235">
                <a:moveTo>
                  <a:pt x="0" y="0"/>
                </a:moveTo>
                <a:lnTo>
                  <a:pt x="9337235" y="0"/>
                </a:lnTo>
                <a:lnTo>
                  <a:pt x="9337235" y="7364744"/>
                </a:lnTo>
                <a:lnTo>
                  <a:pt x="0" y="73647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66399" y="1233825"/>
            <a:ext cx="8884867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Props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6399" y="2415238"/>
            <a:ext cx="6973356" cy="299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Funçã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o: Pass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agem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dad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entre componentes (Pai para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Filh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o).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Imutabilidade: São apenas para leitura (Ready-only).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Exemplo: &lt;Saudacao no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me="Maria" /&gt;</a:t>
            </a:r>
          </a:p>
          <a:p>
            <a:pPr algn="just">
              <a:lnSpc>
                <a:spcPts val="39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654092" y="5507688"/>
            <a:ext cx="399797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Características do Props: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05047" y="1143463"/>
            <a:ext cx="9582953" cy="7130845"/>
          </a:xfrm>
          <a:custGeom>
            <a:avLst/>
            <a:gdLst/>
            <a:ahLst/>
            <a:cxnLst/>
            <a:rect r="r" b="b" t="t" l="l"/>
            <a:pathLst>
              <a:path h="7130845" w="9582953">
                <a:moveTo>
                  <a:pt x="0" y="0"/>
                </a:moveTo>
                <a:lnTo>
                  <a:pt x="9582953" y="0"/>
                </a:lnTo>
                <a:lnTo>
                  <a:pt x="9582953" y="7130845"/>
                </a:lnTo>
                <a:lnTo>
                  <a:pt x="0" y="7130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8884867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State(Propriedades)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2235" y="3894813"/>
            <a:ext cx="6973356" cy="350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Armazena inf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ormaçõe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que mudam durante a execução.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Atualização Automática: O React detecta mudanças e atualiza a tela.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Uso do Hook useState para controle de me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mó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ria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 componente.</a:t>
            </a:r>
          </a:p>
          <a:p>
            <a:pPr algn="just">
              <a:lnSpc>
                <a:spcPts val="39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66399" y="1233825"/>
            <a:ext cx="744502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Virtual Dom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3812711"/>
            <a:ext cx="8416365" cy="400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0"/>
              </a:lnSpc>
            </a:pP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Virtual DOM é uma cópia leve e virtual da página real.</a:t>
            </a:r>
          </a:p>
          <a:p>
            <a:pPr algn="just">
              <a:lnSpc>
                <a:spcPts val="4000"/>
              </a:lnSpc>
            </a:pP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Ao invés de atualizar todo o navegador, o React compara a versão anterior e altera apenas os elementos que sofreram modificação (diffing).</a:t>
            </a:r>
          </a:p>
          <a:p>
            <a:pPr algn="just">
              <a:lnSpc>
                <a:spcPts val="4000"/>
              </a:lnSpc>
            </a:pP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Vantagens: Maior velocidade, menos processamento e interface fluida.</a:t>
            </a:r>
          </a:p>
          <a:p>
            <a:pPr algn="just">
              <a:lnSpc>
                <a:spcPts val="400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1221535" y="1914886"/>
            <a:ext cx="5814864" cy="6457227"/>
            <a:chOff x="0" y="0"/>
            <a:chExt cx="7753152" cy="8609636"/>
          </a:xfrm>
        </p:grpSpPr>
        <p:sp>
          <p:nvSpPr>
            <p:cNvPr name="Freeform 6" id="6"/>
            <p:cNvSpPr/>
            <p:nvPr/>
          </p:nvSpPr>
          <p:spPr>
            <a:xfrm flipH="false" flipV="false" rot="5400000">
              <a:off x="3130133" y="2132232"/>
              <a:ext cx="1545273" cy="438296"/>
            </a:xfrm>
            <a:custGeom>
              <a:avLst/>
              <a:gdLst/>
              <a:ahLst/>
              <a:cxnLst/>
              <a:rect r="r" b="b" t="t" l="l"/>
              <a:pathLst>
                <a:path h="438296" w="1545273">
                  <a:moveTo>
                    <a:pt x="0" y="0"/>
                  </a:moveTo>
                  <a:lnTo>
                    <a:pt x="1545273" y="0"/>
                  </a:lnTo>
                  <a:lnTo>
                    <a:pt x="1545273" y="438295"/>
                  </a:lnTo>
                  <a:lnTo>
                    <a:pt x="0" y="438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3134363" y="-57150"/>
              <a:ext cx="1314648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Fluxo: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351501" y="976630"/>
              <a:ext cx="4880372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Mudança no componente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665883" y="3236900"/>
              <a:ext cx="4473773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 Atualiza o Virtual DOM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613495" y="5633920"/>
              <a:ext cx="4526161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Compara as diferenças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030939"/>
              <a:ext cx="7753152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 Altera apenas o necessário no DOM real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5400000">
              <a:off x="3130133" y="4534186"/>
              <a:ext cx="1545273" cy="438296"/>
            </a:xfrm>
            <a:custGeom>
              <a:avLst/>
              <a:gdLst/>
              <a:ahLst/>
              <a:cxnLst/>
              <a:rect r="r" b="b" t="t" l="l"/>
              <a:pathLst>
                <a:path h="438296" w="1545273">
                  <a:moveTo>
                    <a:pt x="0" y="0"/>
                  </a:moveTo>
                  <a:lnTo>
                    <a:pt x="1545273" y="0"/>
                  </a:lnTo>
                  <a:lnTo>
                    <a:pt x="1545273" y="438295"/>
                  </a:lnTo>
                  <a:lnTo>
                    <a:pt x="0" y="438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5400000">
              <a:off x="3103939" y="6931205"/>
              <a:ext cx="1545273" cy="438296"/>
            </a:xfrm>
            <a:custGeom>
              <a:avLst/>
              <a:gdLst/>
              <a:ahLst/>
              <a:cxnLst/>
              <a:rect r="r" b="b" t="t" l="l"/>
              <a:pathLst>
                <a:path h="438296" w="1545273">
                  <a:moveTo>
                    <a:pt x="0" y="0"/>
                  </a:moveTo>
                  <a:lnTo>
                    <a:pt x="1545273" y="0"/>
                  </a:lnTo>
                  <a:lnTo>
                    <a:pt x="1545273" y="438296"/>
                  </a:lnTo>
                  <a:lnTo>
                    <a:pt x="0" y="438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7413" y="5030361"/>
            <a:ext cx="6345874" cy="4227939"/>
          </a:xfrm>
          <a:custGeom>
            <a:avLst/>
            <a:gdLst/>
            <a:ahLst/>
            <a:cxnLst/>
            <a:rect r="r" b="b" t="t" l="l"/>
            <a:pathLst>
              <a:path h="4227939" w="6345874">
                <a:moveTo>
                  <a:pt x="0" y="0"/>
                </a:moveTo>
                <a:lnTo>
                  <a:pt x="6345874" y="0"/>
                </a:lnTo>
                <a:lnTo>
                  <a:pt x="6345874" y="4227939"/>
                </a:lnTo>
                <a:lnTo>
                  <a:pt x="0" y="422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95809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Ciclo de Vida e Hooks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27849" y="3642306"/>
            <a:ext cx="8416365" cy="350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51" indent="-269876" lvl="1">
              <a:lnSpc>
                <a:spcPts val="4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Etapas de existência do componente divididas em: Montagem (Criação), Atualização e Desmontagem (Remoção).</a:t>
            </a:r>
          </a:p>
          <a:p>
            <a:pPr algn="just" marL="539751" indent="-269876" lvl="1">
              <a:lnSpc>
                <a:spcPts val="4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 React moderno, é controlado por Hooks como o useEffect (usado para chamadas de API e limpezas de memória) e useState.</a:t>
            </a:r>
          </a:p>
          <a:p>
            <a:pPr algn="just">
              <a:lnSpc>
                <a:spcPts val="4000"/>
              </a:lnSpc>
            </a:pPr>
          </a:p>
        </p:txBody>
      </p:sp>
      <p:sp>
        <p:nvSpPr>
          <p:cNvPr name="AutoShape 6" id="6"/>
          <p:cNvSpPr/>
          <p:nvPr/>
        </p:nvSpPr>
        <p:spPr>
          <a:xfrm>
            <a:off x="4430299" y="2067705"/>
            <a:ext cx="0" cy="29626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36659" y="4543742"/>
            <a:ext cx="9214682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Gerenciamento de Estado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66399" y="1233825"/>
            <a:ext cx="10745926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ESTADO LOCAL X ESTADO GLOBAL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094354" y="3685791"/>
            <a:ext cx="5743072" cy="518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00"/>
              </a:lnSpc>
            </a:pPr>
            <a:r>
              <a:rPr lang="en-US" b="true" sz="20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Principais Bibliotecas de Estado Global:</a:t>
            </a:r>
          </a:p>
          <a:p>
            <a:pPr algn="just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Redux: Robusto, centraliza tudo em uma única Store previsível. Ideal para projetos muito grandes, porém exige mais linhas de código.</a:t>
            </a:r>
          </a:p>
          <a:p>
            <a:pPr algn="just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Zustand: Alternativa moderna, extremamente leve, rápida e simples de aprender.</a:t>
            </a:r>
          </a:p>
          <a:p>
            <a:pPr algn="just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Context API: Solução nativa do próprio React (não precisa instalar nada externo), excelente p</a:t>
            </a:r>
            <a:r>
              <a:rPr lang="en-US" sz="20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0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0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c</a:t>
            </a:r>
            <a:r>
              <a:rPr lang="en-US" sz="20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onfigurações</a:t>
            </a:r>
            <a:r>
              <a:rPr lang="en-US" sz="20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0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imples c</a:t>
            </a:r>
            <a:r>
              <a:rPr lang="en-US" sz="20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0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 idioma e tema</a:t>
            </a:r>
            <a:r>
              <a:rPr lang="en-US" sz="20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s.</a:t>
            </a:r>
          </a:p>
          <a:p>
            <a:pPr algn="just">
              <a:lnSpc>
                <a:spcPts val="32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27514" y="3690640"/>
            <a:ext cx="4905914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Estado Local:</a:t>
            </a:r>
          </a:p>
          <a:p>
            <a:pPr algn="just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Pertence a apenas um componente isolado (outros componentes não têm acesso).</a:t>
            </a:r>
          </a:p>
          <a:p>
            <a:pPr algn="just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Gerenciado nativamente pelo Hook useState.</a:t>
            </a:r>
          </a:p>
          <a:p>
            <a:pPr algn="just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Casos de uso: Formulários, abrir/fechar modais, cliques locais.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05875" y="3723891"/>
            <a:ext cx="5330093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Estado Global: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Compartilhado entre vários componentes da aplicação para evitar o repasse manual de dados (prop drilling).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Casos de uso: Usuário logado, carrinho de compras, preferências de tema escuro.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42473" y="4543742"/>
            <a:ext cx="840305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Ferramental de Projeto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66399" y="1233825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Gerenciadores de Pacotes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254681"/>
            <a:ext cx="5084466" cy="501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npm: O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ã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d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ec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oss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ist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JavaS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ipt p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 ins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alar b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bliot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cas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 rodar sc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rip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(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pm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ru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d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ev).</a:t>
            </a:r>
          </a:p>
          <a:p>
            <a:pPr algn="just">
              <a:lnSpc>
                <a:spcPts val="39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pnpm: Altern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iv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ma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veloz que economiza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esp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aço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 disco ao reuti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izar ar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quiv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balmente.</a:t>
            </a:r>
          </a:p>
          <a:p>
            <a:pPr algn="just" marL="0" indent="0" lvl="0">
              <a:lnSpc>
                <a:spcPts val="399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132806" y="3130722"/>
            <a:ext cx="10628533" cy="4025557"/>
          </a:xfrm>
          <a:custGeom>
            <a:avLst/>
            <a:gdLst/>
            <a:ahLst/>
            <a:cxnLst/>
            <a:rect r="r" b="b" t="t" l="l"/>
            <a:pathLst>
              <a:path h="4025557" w="10628533">
                <a:moveTo>
                  <a:pt x="0" y="0"/>
                </a:moveTo>
                <a:lnTo>
                  <a:pt x="10628533" y="0"/>
                </a:lnTo>
                <a:lnTo>
                  <a:pt x="10628533" y="4025556"/>
                </a:lnTo>
                <a:lnTo>
                  <a:pt x="0" y="40255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37693" y="2642266"/>
            <a:ext cx="6151543" cy="5823169"/>
          </a:xfrm>
          <a:custGeom>
            <a:avLst/>
            <a:gdLst/>
            <a:ahLst/>
            <a:cxnLst/>
            <a:rect r="r" b="b" t="t" l="l"/>
            <a:pathLst>
              <a:path h="5823169" w="6151543">
                <a:moveTo>
                  <a:pt x="0" y="0"/>
                </a:moveTo>
                <a:lnTo>
                  <a:pt x="6151543" y="0"/>
                </a:lnTo>
                <a:lnTo>
                  <a:pt x="6151543" y="5823169"/>
                </a:lnTo>
                <a:lnTo>
                  <a:pt x="0" y="5823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1247066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Ambiente de Desenvolvimento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8660" y="3881945"/>
            <a:ext cx="4452698" cy="400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Vite: 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ferra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enta pri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nci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pal da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tual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id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de.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itui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an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igo Cr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React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 (CRA) por ofere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ici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ali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z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ação ins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tantân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ea e atualização de tela (Hot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load) extremamente rápida.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66399" y="1233825"/>
            <a:ext cx="11662702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Compiladores e Empacotadores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63161" y="3576215"/>
            <a:ext cx="5034589" cy="501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Babel: T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raduz o código m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od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erno e a sin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axe JSX para JavaS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ipt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dic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io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nal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egíve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por navegadores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ntigos.</a:t>
            </a:r>
          </a:p>
          <a:p>
            <a:pPr algn="just" marL="539749" indent="-269875" lvl="1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Webpa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ck: Ju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nta e otimiza arquivos de código, imagens e 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sti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los em pacotes compactos de produção.</a:t>
            </a:r>
          </a:p>
          <a:p>
            <a:pPr algn="just">
              <a:lnSpc>
                <a:spcPts val="39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788337" y="3604790"/>
            <a:ext cx="6874999" cy="474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6"/>
              </a:lnSpc>
              <a:spcBef>
                <a:spcPct val="0"/>
              </a:spcBef>
            </a:pPr>
            <a:r>
              <a:rPr lang="en-US" sz="336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src/App.jsx (JSX moderno)</a:t>
            </a:r>
          </a:p>
          <a:p>
            <a:pPr algn="ctr">
              <a:lnSpc>
                <a:spcPts val="4706"/>
              </a:lnSpc>
              <a:spcBef>
                <a:spcPct val="0"/>
              </a:spcBef>
            </a:pPr>
            <a:r>
              <a:rPr lang="en-US" sz="336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↓</a:t>
            </a:r>
          </a:p>
          <a:p>
            <a:pPr algn="ctr">
              <a:lnSpc>
                <a:spcPts val="4706"/>
              </a:lnSpc>
              <a:spcBef>
                <a:spcPct val="0"/>
              </a:spcBef>
            </a:pPr>
            <a:r>
              <a:rPr lang="en-US" sz="336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BABEL (transpila JSX → JS)</a:t>
            </a:r>
          </a:p>
          <a:p>
            <a:pPr algn="ctr">
              <a:lnSpc>
                <a:spcPts val="4706"/>
              </a:lnSpc>
              <a:spcBef>
                <a:spcPct val="0"/>
              </a:spcBef>
            </a:pPr>
            <a:r>
              <a:rPr lang="en-US" sz="336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↓</a:t>
            </a:r>
          </a:p>
          <a:p>
            <a:pPr algn="ctr">
              <a:lnSpc>
                <a:spcPts val="4706"/>
              </a:lnSpc>
              <a:spcBef>
                <a:spcPct val="0"/>
              </a:spcBef>
            </a:pPr>
            <a:r>
              <a:rPr lang="en-US" sz="336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WEBPACK (agrupa tudo)</a:t>
            </a:r>
          </a:p>
          <a:p>
            <a:pPr algn="ctr">
              <a:lnSpc>
                <a:spcPts val="4706"/>
              </a:lnSpc>
              <a:spcBef>
                <a:spcPct val="0"/>
              </a:spcBef>
            </a:pPr>
            <a:r>
              <a:rPr lang="en-US" sz="336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↓</a:t>
            </a:r>
          </a:p>
          <a:p>
            <a:pPr algn="ctr">
              <a:lnSpc>
                <a:spcPts val="4706"/>
              </a:lnSpc>
              <a:spcBef>
                <a:spcPct val="0"/>
              </a:spcBef>
            </a:pPr>
            <a:r>
              <a:rPr lang="en-US" sz="336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dist/bundle.js (JavaScript pronto para navegador)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4709" y="4704902"/>
            <a:ext cx="1809205" cy="1592100"/>
          </a:xfrm>
          <a:custGeom>
            <a:avLst/>
            <a:gdLst/>
            <a:ahLst/>
            <a:cxnLst/>
            <a:rect r="r" b="b" t="t" l="l"/>
            <a:pathLst>
              <a:path h="1592100" w="1809205">
                <a:moveTo>
                  <a:pt x="0" y="0"/>
                </a:moveTo>
                <a:lnTo>
                  <a:pt x="1809205" y="0"/>
                </a:lnTo>
                <a:lnTo>
                  <a:pt x="1809205" y="1592100"/>
                </a:lnTo>
                <a:lnTo>
                  <a:pt x="0" y="1592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38560" y="5709383"/>
            <a:ext cx="1809205" cy="1809205"/>
          </a:xfrm>
          <a:custGeom>
            <a:avLst/>
            <a:gdLst/>
            <a:ahLst/>
            <a:cxnLst/>
            <a:rect r="r" b="b" t="t" l="l"/>
            <a:pathLst>
              <a:path h="1809205" w="1809205">
                <a:moveTo>
                  <a:pt x="0" y="0"/>
                </a:moveTo>
                <a:lnTo>
                  <a:pt x="1809205" y="0"/>
                </a:lnTo>
                <a:lnTo>
                  <a:pt x="1809205" y="1809205"/>
                </a:lnTo>
                <a:lnTo>
                  <a:pt x="0" y="18092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01863" y="428942"/>
            <a:ext cx="968427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Qualidade e Padronização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4709" y="2488614"/>
            <a:ext cx="4652204" cy="198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ESLint: Analis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o código em tempo real para apontar err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os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s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x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ou variáveis não utilizadas.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95562" y="7693624"/>
            <a:ext cx="4652204" cy="198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Prettier: Format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o alinhamento e o padrão visual do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có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digo de forma automática.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370472" y="3303206"/>
            <a:ext cx="7236624" cy="4812355"/>
          </a:xfrm>
          <a:custGeom>
            <a:avLst/>
            <a:gdLst/>
            <a:ahLst/>
            <a:cxnLst/>
            <a:rect r="r" b="b" t="t" l="l"/>
            <a:pathLst>
              <a:path h="4812355" w="7236624">
                <a:moveTo>
                  <a:pt x="0" y="0"/>
                </a:moveTo>
                <a:lnTo>
                  <a:pt x="7236624" y="0"/>
                </a:lnTo>
                <a:lnTo>
                  <a:pt x="7236624" y="4812355"/>
                </a:lnTo>
                <a:lnTo>
                  <a:pt x="0" y="48123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247346" y="3119868"/>
            <a:ext cx="348287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Exemplo Prettier: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83142" y="4543742"/>
            <a:ext cx="14321717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TAILWIND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44239" y="3931966"/>
            <a:ext cx="5814083" cy="3553858"/>
          </a:xfrm>
          <a:custGeom>
            <a:avLst/>
            <a:gdLst/>
            <a:ahLst/>
            <a:cxnLst/>
            <a:rect r="r" b="b" t="t" l="l"/>
            <a:pathLst>
              <a:path h="3553858" w="5814083">
                <a:moveTo>
                  <a:pt x="0" y="0"/>
                </a:moveTo>
                <a:lnTo>
                  <a:pt x="5814084" y="0"/>
                </a:lnTo>
                <a:lnTo>
                  <a:pt x="5814084" y="3553859"/>
                </a:lnTo>
                <a:lnTo>
                  <a:pt x="0" y="3553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02586" y="1351583"/>
            <a:ext cx="1208282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Tailwind CSS: Interatividade Pura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78911" y="4319725"/>
            <a:ext cx="6815882" cy="299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Tailwind CSS foca na inte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ratividade via classes utilitárias e manipulação de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stado. O JavaScript alterna classes dinamicamente (como hover e peer) para controlar a UI, garantindo performance máxima e bundles mínimos via JIT.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39088" y="4543742"/>
            <a:ext cx="1260982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Roteamento (Routing) e Conclusão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412969" y="4250450"/>
            <a:ext cx="6846331" cy="3520386"/>
          </a:xfrm>
          <a:custGeom>
            <a:avLst/>
            <a:gdLst/>
            <a:ahLst/>
            <a:cxnLst/>
            <a:rect r="r" b="b" t="t" l="l"/>
            <a:pathLst>
              <a:path h="3520386" w="6846331">
                <a:moveTo>
                  <a:pt x="0" y="0"/>
                </a:moveTo>
                <a:lnTo>
                  <a:pt x="6846331" y="0"/>
                </a:lnTo>
                <a:lnTo>
                  <a:pt x="6846331" y="3520386"/>
                </a:lnTo>
                <a:lnTo>
                  <a:pt x="0" y="3520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9684273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Navegação SPA e Avaliação Final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013801"/>
            <a:ext cx="8559186" cy="501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Como funciona o Roteamento em SPAs (Single Page Applications):</a:t>
            </a:r>
          </a:p>
          <a:p>
            <a:pPr algn="just" marL="539749" indent="-269875" lvl="1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Diferente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dos sites tradicionais (onde o servidor recarrega a página inteira a cada clique), no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act o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sit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c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arrega uma única vez.</a:t>
            </a:r>
          </a:p>
          <a:p>
            <a:pPr algn="just" marL="539749" indent="-269875" lvl="1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JavaScript intercepta os links, altera a URL dinamicamente e atualiza na tela apenas o componente necessário, tornando a navegação instantânea e fluida.</a:t>
            </a:r>
          </a:p>
          <a:p>
            <a:pPr algn="just">
              <a:lnSpc>
                <a:spcPts val="39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9684273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Conclusão: Vantagens e Desvantagens do React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00114" y="3736975"/>
            <a:ext cx="8559186" cy="552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Desvantagens:</a:t>
            </a:r>
          </a:p>
          <a:p>
            <a:pPr algn="just" marL="539749" indent="-269875" lvl="1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Fadiga de Ferramentas: Por ser uma biblioteca e não um framework, exige que você escolha e instale ferramenta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externas para tudo (Rotas, Estados, etc).</a:t>
            </a:r>
          </a:p>
          <a:p>
            <a:pPr algn="just" marL="539749" indent="-269875" lvl="1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Muda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nças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stantes: Atualizações frequentes exigem estudo e refatoração contínua do código.</a:t>
            </a:r>
          </a:p>
          <a:p>
            <a:pPr algn="just" marL="539749" indent="-269875" lvl="1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Complexidade Desnecessária: Pode ser exagero (overengineering) para sites institucionalmente simples ou Landing Pages.</a:t>
            </a:r>
          </a:p>
          <a:p>
            <a:pPr algn="just">
              <a:lnSpc>
                <a:spcPts val="39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73544" y="4776787"/>
            <a:ext cx="6791038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Vantagens: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Alta Performance: Graças ao algoritmo do Virtual DOM.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Reutilização: Componentização limpa que agiliza o desenvolvimento.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Ecossistema Gigante: Grande quantidade de bibliotecas prontas e altíssima demanda no mercado de trabalho.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57257" y="2506980"/>
            <a:ext cx="12773486" cy="500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Obrigado pela atenção!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DAHKKK1MmXM</dc:identifier>
  <dcterms:modified xsi:type="dcterms:W3CDTF">2011-08-01T06:04:30Z</dcterms:modified>
  <cp:revision>1</cp:revision>
  <dc:title>Black and White Simple Minimalist Pitch Deck Marketing Presentation</dc:title>
</cp:coreProperties>
</file>